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a4046438cdc4d2e" /><Relationship Type="http://schemas.openxmlformats.org/officeDocument/2006/relationships/extended-properties" Target="/docProps/app.xml" Id="R191cbea7a96740d1" /><Relationship Type="http://schemas.openxmlformats.org/officeDocument/2006/relationships/officeDocument" Target="/ppt/presentation.xml" Id="R24b623a742184f1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bd19ca207aa4169"/>
  </p:sldMasterIdLst>
  <p:notesMasterIdLst>
    <p:notesMasterId xmlns:r="http://schemas.openxmlformats.org/officeDocument/2006/relationships" r:id="Re9e92a3b6d524abd"/>
  </p:notesMasterIdLst>
  <p:sldIdLst>
    <p:sldId xmlns:r="http://schemas.openxmlformats.org/officeDocument/2006/relationships" id="256" r:id="R7d4a18ad27f943cf"/>
    <p:sldId xmlns:r="http://schemas.openxmlformats.org/officeDocument/2006/relationships" id="257" r:id="R9f535ca978234bee"/>
    <p:sldId xmlns:r="http://schemas.openxmlformats.org/officeDocument/2006/relationships" id="258" r:id="R748aa1b5e3254433"/>
    <p:sldId xmlns:r="http://schemas.openxmlformats.org/officeDocument/2006/relationships" id="259" r:id="R8ff6c089435b4085"/>
    <p:sldId xmlns:r="http://schemas.openxmlformats.org/officeDocument/2006/relationships" id="260" r:id="Rb7b86855cbae4d7a"/>
    <p:sldId xmlns:r="http://schemas.openxmlformats.org/officeDocument/2006/relationships" id="261" r:id="Rc567bd566eca4e46"/>
    <p:sldId xmlns:r="http://schemas.openxmlformats.org/officeDocument/2006/relationships" id="262" r:id="R1ab0a7824ee4483b"/>
    <p:sldId xmlns:r="http://schemas.openxmlformats.org/officeDocument/2006/relationships" id="263" r:id="R18ce036de2ca412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5356e214caa4db3" /><Relationship Type="http://schemas.openxmlformats.org/officeDocument/2006/relationships/slideMaster" Target="/ppt/slideMasters/slideMaster1.xml" Id="Rcbd19ca207aa4169" /><Relationship Type="http://schemas.openxmlformats.org/officeDocument/2006/relationships/notesMaster" Target="/ppt/notesMasters/notesMaster1.xml" Id="Re9e92a3b6d524abd" /><Relationship Type="http://schemas.openxmlformats.org/officeDocument/2006/relationships/presProps" Target="/ppt/presProps.xml" Id="Ree8fbed76c8c4ff5" /><Relationship Type="http://schemas.openxmlformats.org/officeDocument/2006/relationships/tableStyles" Target="/ppt/tableStyles.xml" Id="Ref24a7921a254ae3" /><Relationship Type="http://schemas.openxmlformats.org/officeDocument/2006/relationships/slide" Target="/ppt/slides/slide1.xml" Id="R7d4a18ad27f943cf" /><Relationship Type="http://schemas.openxmlformats.org/officeDocument/2006/relationships/slide" Target="/ppt/slides/slide2.xml" Id="R9f535ca978234bee" /><Relationship Type="http://schemas.openxmlformats.org/officeDocument/2006/relationships/slide" Target="/ppt/slides/slide3.xml" Id="R748aa1b5e3254433" /><Relationship Type="http://schemas.openxmlformats.org/officeDocument/2006/relationships/slide" Target="/ppt/slides/slide4.xml" Id="R8ff6c089435b4085" /><Relationship Type="http://schemas.openxmlformats.org/officeDocument/2006/relationships/slide" Target="/ppt/slides/slide5.xml" Id="Rb7b86855cbae4d7a" /><Relationship Type="http://schemas.openxmlformats.org/officeDocument/2006/relationships/slide" Target="/ppt/slides/slide6.xml" Id="Rc567bd566eca4e46" /><Relationship Type="http://schemas.openxmlformats.org/officeDocument/2006/relationships/slide" Target="/ppt/slides/slide7.xml" Id="R1ab0a7824ee4483b" /><Relationship Type="http://schemas.openxmlformats.org/officeDocument/2006/relationships/slide" Target="/ppt/slides/slide8.xml" Id="R18ce036de2ca412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d7acced0a8a40e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83f3224f4e34d96" /><Relationship Type="http://schemas.openxmlformats.org/officeDocument/2006/relationships/notesMaster" Target="/ppt/notesMasters/notesMaster1.xml" Id="R0c522c8285ac4f1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b41781268ac4c9e" /><Relationship Type="http://schemas.openxmlformats.org/officeDocument/2006/relationships/notesMaster" Target="/ppt/notesMasters/notesMaster1.xml" Id="R58624e7f6a054fe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6dabd9ff2904bc1" /><Relationship Type="http://schemas.openxmlformats.org/officeDocument/2006/relationships/notesMaster" Target="/ppt/notesMasters/notesMaster1.xml" Id="Rc93f58690052452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6a38f93ad67407a" /><Relationship Type="http://schemas.openxmlformats.org/officeDocument/2006/relationships/notesMaster" Target="/ppt/notesMasters/notesMaster1.xml" Id="Rdce5374fe7eb4a8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9364258da4f4a81" /><Relationship Type="http://schemas.openxmlformats.org/officeDocument/2006/relationships/notesMaster" Target="/ppt/notesMasters/notesMaster1.xml" Id="R5897df9ec5e346e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3277bc82f0049a8" /><Relationship Type="http://schemas.openxmlformats.org/officeDocument/2006/relationships/notesMaster" Target="/ppt/notesMasters/notesMaster1.xml" Id="Rd1f1db6861784c2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3061ef8dd054de9" /><Relationship Type="http://schemas.openxmlformats.org/officeDocument/2006/relationships/notesMaster" Target="/ppt/notesMasters/notesMaster1.xml" Id="R72f12b3b895741a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66ee4725ab4414a" /><Relationship Type="http://schemas.openxmlformats.org/officeDocument/2006/relationships/notesMaster" Target="/ppt/notesMasters/notesMaster1.xml" Id="Red2c9fd299a940f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https://github.com/CrisChang/radar-agent</a:t>
            </a:r>
          </a:p>
          <a:p xmlns:a="http://schemas.openxmlformats.org/drawingml/2006/main">
            <a:r>
              <a:t>- Product screenshot captured from the local working MVP.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https://github.com/CrisChang/radar-agent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https://github.com/CrisChang/radar-agent/blob/main/docs/ARCHITECTURE.md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https://github.com/CrisChang/radar-agent/blob/main/lib/discipline.ts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https://github.com/CrisChang/radar-agent</a:t>
            </a:r>
          </a:p>
          <a:p xmlns:a="http://schemas.openxmlformats.org/drawingml/2006/main">
            <a:r>
              <a:t>- https://testnet.arcscan.app/tx/0xb552e86788532a48013355c5165e68bd50b56a24e0dd6ec2a5d28b005e687726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https://testnet.arcscan.app/tx/0xb552e86788532a48013355c5165e68bd50b56a24e0dd6ec2a5d28b005e687726</a:t>
            </a:r>
          </a:p>
          <a:p xmlns:a="http://schemas.openxmlformats.org/drawingml/2006/main">
            <a:r>
              <a:t>- Execution record from agent/state/audit.jsonl.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https://github.com/CrisChang/radar-agent</a:t>
            </a:r>
          </a:p>
          <a:p xmlns:a="http://schemas.openxmlformats.org/drawingml/2006/main">
            <a:r>
              <a:t>- https://radar-agent-arc-2026.chrischang2026.workers.dev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https://radar-agent-arc-2026.chrischang2026.workers.dev</a:t>
            </a:r>
          </a:p>
          <a:p xmlns:a="http://schemas.openxmlformats.org/drawingml/2006/main">
            <a:r>
              <a:t>- https://github.com/CrisChang/radar-agent</a:t>
            </a:r>
          </a:p>
          <a:p xmlns:a="http://schemas.openxmlformats.org/drawingml/2006/main">
            <a:r>
              <a:t>- https://testnet.arcscan.app/tx/0xb552e86788532a48013355c5165e68bd50b56a24e0dd6ec2a5d28b005e687726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a849fbf8eb9442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c65f9b23d294c96" /><Relationship Type="http://schemas.openxmlformats.org/officeDocument/2006/relationships/slideLayout" Target="/ppt/slideLayouts/slideLayout1.xml" Id="R65136428b9fe490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5136428b9fe490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8ae76e4211439d" /><Relationship Type="http://schemas.openxmlformats.org/officeDocument/2006/relationships/image" Target="/ppt/media/image.png" Id="R23b6bdced70b415e" /><Relationship Type="http://schemas.openxmlformats.org/officeDocument/2006/relationships/notesSlide" Target="/ppt/notesSlides/notesSlide1.xml" Id="R29f142831913460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09a23866ae4c24" /><Relationship Type="http://schemas.openxmlformats.org/officeDocument/2006/relationships/notesSlide" Target="/ppt/notesSlides/notesSlide2.xml" Id="R28f2794cc9eb4ad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c224bfd71446c3" /><Relationship Type="http://schemas.openxmlformats.org/officeDocument/2006/relationships/notesSlide" Target="/ppt/notesSlides/notesSlide3.xml" Id="R3ebb7bf8ea804e9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812d03640e4317" /><Relationship Type="http://schemas.openxmlformats.org/officeDocument/2006/relationships/notesSlide" Target="/ppt/notesSlides/notesSlide4.xml" Id="R9d42ebeb072f4f9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929f73e2f14b4d" /><Relationship Type="http://schemas.openxmlformats.org/officeDocument/2006/relationships/notesSlide" Target="/ppt/notesSlides/notesSlide5.xml" Id="Rf6c8a8cb79e146b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3e602a8a6d4aaf" /><Relationship Type="http://schemas.openxmlformats.org/officeDocument/2006/relationships/image" Target="/ppt/media/image.jpeg" Id="R6510f6bbbe3d4f64" /><Relationship Type="http://schemas.openxmlformats.org/officeDocument/2006/relationships/notesSlide" Target="/ppt/notesSlides/notesSlide6.xml" Id="R7f571ecc4e5246e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31757af25e4bff" /><Relationship Type="http://schemas.openxmlformats.org/officeDocument/2006/relationships/notesSlide" Target="/ppt/notesSlides/notesSlide7.xml" Id="R7b93cddd2d2c4e9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4034cad5114044" /><Relationship Type="http://schemas.openxmlformats.org/officeDocument/2006/relationships/notesSlide" Target="/ppt/notesSlides/notesSlide8.xml" Id="R175494f12ed846e3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75F89CF8-D038-4CC7-8465-C7C867E00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01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0CEEC9C2-BC32-4C06-A428-5264408B6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PROGRAMMABLE MONEY</a:t>
            </a:r>
          </a:p>
        </p:txBody>
      </p:sp>
      <p:sp>
        <p:nvSpPr>
          <p:cNvPr id="3" name="Picture-3-4-backing">
            <a:extLst xmlns:a="http://schemas.openxmlformats.org/drawingml/2006/main">
              <a:ext uri="{FF2B5EF4-FFF2-40B4-BE49-F238E27FC236}">
                <a16:creationId xmlns:a16="http://schemas.microsoft.com/office/drawing/2014/main" id="{75D8EFF6-51BB-44F7-8202-60C34667C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9069" y="396431"/>
            <a:ext cx="5539740" cy="5602034"/>
          </a:xfrm>
          <a:prstGeom xmlns:a="http://schemas.openxmlformats.org/drawingml/2006/main" prst="roundRect">
            <a:avLst>
              <a:gd name="adj" fmla="val 1376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Google-Shape-534-p58-5">
            <a:extLst xmlns:a="http://schemas.openxmlformats.org/drawingml/2006/main">
              <a:ext uri="{FF2B5EF4-FFF2-40B4-BE49-F238E27FC236}">
                <a16:creationId xmlns:a16="http://schemas.microsoft.com/office/drawing/2014/main" id="{02D6A797-60D6-42B7-A5CD-114C4B4C7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31968"/>
            <a:ext cx="5537168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</a:p>
        </p:txBody>
      </p:sp>
      <p:sp>
        <p:nvSpPr>
          <p:cNvPr id="6" name="cover-title">
            <a:extLst xmlns:a="http://schemas.openxmlformats.org/drawingml/2006/main">
              <a:ext uri="{FF2B5EF4-FFF2-40B4-BE49-F238E27FC236}">
                <a16:creationId xmlns:a16="http://schemas.microsoft.com/office/drawing/2014/main" id="{479FF634-6BD9-46EE-AC0A-BA85A7860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952625"/>
            <a:ext cx="5429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Radar Agent</a:t>
            </a:r>
          </a:p>
        </p:txBody>
      </p:sp>
      <p:sp>
        <p:nvSpPr>
          <p:cNvPr id="7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958EC002-8521-4EF8-A063-21B7F0CBB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952750"/>
            <a:ext cx="52197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353A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>
                <a:solidFill>
                  <a:srgbClr val="353A38"/>
                </a:solidFill>
                <a:latin typeface="Helvetica Neue"/>
                <a:ea typeface="Helvetica Neue"/>
                <a:cs typeface="Helvetica Neue"/>
              </a:rPr>
              <a:t>Agents buy market signals in USDC, then act through a hard safety layer.</a:t>
            </a:r>
          </a:p>
        </p:txBody>
      </p:sp>
      <p:sp>
        <p:nvSpPr>
          <p:cNvPr id="8" name="cover-meta">
            <a:extLst xmlns:a="http://schemas.openxmlformats.org/drawingml/2006/main">
              <a:ext uri="{FF2B5EF4-FFF2-40B4-BE49-F238E27FC236}">
                <a16:creationId xmlns:a16="http://schemas.microsoft.com/office/drawing/2014/main" id="{5E1A71BC-197F-4BAD-B33C-EED006D0C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953000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AGENTIC ECONOMY  ·  ARC TESTNET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b6bdced70b415e"/>
          <a:stretch xmlns:a="http://schemas.openxmlformats.org/drawingml/2006/main"/>
        </p:blipFill>
        <p:spPr>
          <a:xfrm xmlns:a="http://schemas.openxmlformats.org/drawingml/2006/main">
            <a:off x="6267450" y="1716643"/>
            <a:ext cx="5543550" cy="2910364"/>
          </a:xfrm>
          <a:prstGeom xmlns:a="http://schemas.openxmlformats.org/drawingml/2006/main" prst="roundRect">
            <a:avLst>
              <a:gd name="adj" fmla="val 5229"/>
            </a:avLst>
          </a:prstGeom>
        </p:spPr>
      </p:pic>
    </p:spTree>
    <p:extLst>
      <p:ext uri="{BB962C8B-B14F-4D97-AF65-F5344CB8AC3E}">
        <p14:creationId xmlns:p14="http://schemas.microsoft.com/office/powerpoint/2010/main" val="69749902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AB920F17-F0CC-40E7-8755-9D5552978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02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B92336E6-C85F-402F-85C7-171E03FCE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Agents need a payment rail - and custody boundaries.</a:t>
            </a:r>
          </a:p>
        </p:txBody>
      </p:sp>
      <p:sp>
        <p:nvSpPr>
          <p:cNvPr id="3" name="Google-Shape-534-p58-4">
            <a:extLst xmlns:a="http://schemas.openxmlformats.org/drawingml/2006/main">
              <a:ext uri="{FF2B5EF4-FFF2-40B4-BE49-F238E27FC236}">
                <a16:creationId xmlns:a16="http://schemas.microsoft.com/office/drawing/2014/main" id="{B58323DB-4861-454D-94FA-10E1C4C43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22406"/>
            <a:ext cx="5537168" cy="86515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THE GAP</a:t>
            </a:r>
          </a:p>
        </p:txBody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C0268509-E5E1-4919-A869-46D0C0A36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990279"/>
            <a:ext cx="3911632" cy="5487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Pay per signal</a:t>
            </a:r>
          </a:p>
        </p:txBody>
      </p:sp>
      <p:sp>
        <p:nvSpPr>
          <p:cNvPr id="5" name="Google-Shape-340-p61-6">
            <a:extLst xmlns:a="http://schemas.openxmlformats.org/drawingml/2006/main">
              <a:ext uri="{FF2B5EF4-FFF2-40B4-BE49-F238E27FC236}">
                <a16:creationId xmlns:a16="http://schemas.microsoft.com/office/drawing/2014/main" id="{B2402430-A7DE-4A38-B9F4-324456FC0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00" y="3015139"/>
            <a:ext cx="212598" cy="212503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6" name="TextBox-11-7">
            <a:extLst xmlns:a="http://schemas.openxmlformats.org/drawingml/2006/main">
              <a:ext uri="{FF2B5EF4-FFF2-40B4-BE49-F238E27FC236}">
                <a16:creationId xmlns:a16="http://schemas.microsoft.com/office/drawing/2014/main" id="{28CC711E-3D0F-4A97-91CD-09F5CB1C7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990279"/>
            <a:ext cx="5537168" cy="28846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Calling an API is easy. Letting an agent spend and move money is not.</a:t>
            </a:r>
          </a:p>
          <a:p xmlns:a="http://schemas.openxmlformats.org/drawingml/2006/main">
            <a:pPr algn="l"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 useful autonomous agent needs per-request payment, an explainable decision boundary, and controls that cannot be talked around.</a:t>
            </a:r>
          </a:p>
        </p:txBody>
      </p:sp>
      <p:sp>
        <p:nvSpPr>
          <p:cNvPr id="7" name="Content-Placeholder-10-8">
            <a:extLst xmlns:a="http://schemas.openxmlformats.org/drawingml/2006/main">
              <a:ext uri="{FF2B5EF4-FFF2-40B4-BE49-F238E27FC236}">
                <a16:creationId xmlns:a16="http://schemas.microsoft.com/office/drawing/2014/main" id="{16284AA1-9056-4A7E-95F9-D6281F61C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599879"/>
            <a:ext cx="3911632" cy="5487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Explain every decision</a:t>
            </a:r>
          </a:p>
        </p:txBody>
      </p:sp>
      <p:sp>
        <p:nvSpPr>
          <p:cNvPr id="8" name="Google-Shape-340-p61-9">
            <a:extLst xmlns:a="http://schemas.openxmlformats.org/drawingml/2006/main">
              <a:ext uri="{FF2B5EF4-FFF2-40B4-BE49-F238E27FC236}">
                <a16:creationId xmlns:a16="http://schemas.microsoft.com/office/drawing/2014/main" id="{C7824DAD-21EB-4B2D-8642-E23EFF4E3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00" y="3624739"/>
            <a:ext cx="212598" cy="212503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9" name="Content-Placeholder-10-10">
            <a:extLst xmlns:a="http://schemas.openxmlformats.org/drawingml/2006/main">
              <a:ext uri="{FF2B5EF4-FFF2-40B4-BE49-F238E27FC236}">
                <a16:creationId xmlns:a16="http://schemas.microsoft.com/office/drawing/2014/main" id="{D2C36AB0-91A2-4BBB-82D5-8C1BFF760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214813"/>
            <a:ext cx="3911632" cy="5487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Cap every spend</a:t>
            </a:r>
          </a:p>
        </p:txBody>
      </p:sp>
      <p:sp>
        <p:nvSpPr>
          <p:cNvPr id="10" name="Google-Shape-340-p61-11">
            <a:extLst xmlns:a="http://schemas.openxmlformats.org/drawingml/2006/main">
              <a:ext uri="{FF2B5EF4-FFF2-40B4-BE49-F238E27FC236}">
                <a16:creationId xmlns:a16="http://schemas.microsoft.com/office/drawing/2014/main" id="{33B5E5A2-92B2-488D-BA9A-1A4D141FF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00" y="4239578"/>
            <a:ext cx="212598" cy="212503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11" name="Content-Placeholder-10-12">
            <a:extLst xmlns:a="http://schemas.openxmlformats.org/drawingml/2006/main">
              <a:ext uri="{FF2B5EF4-FFF2-40B4-BE49-F238E27FC236}">
                <a16:creationId xmlns:a16="http://schemas.microsoft.com/office/drawing/2014/main" id="{78764422-6797-414D-BBDE-4CC62C3F5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824317"/>
            <a:ext cx="3911632" cy="5487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Prevent replay</a:t>
            </a:r>
          </a:p>
        </p:txBody>
      </p:sp>
      <p:sp>
        <p:nvSpPr>
          <p:cNvPr id="12" name="Google-Shape-340-p61-13">
            <a:extLst xmlns:a="http://schemas.openxmlformats.org/drawingml/2006/main">
              <a:ext uri="{FF2B5EF4-FFF2-40B4-BE49-F238E27FC236}">
                <a16:creationId xmlns:a16="http://schemas.microsoft.com/office/drawing/2014/main" id="{ECB41FE0-CA94-41AB-BB12-C617F75CB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00" y="4849178"/>
            <a:ext cx="212598" cy="212503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13" name="Content-Placeholder-10-14">
            <a:extLst xmlns:a="http://schemas.openxmlformats.org/drawingml/2006/main">
              <a:ext uri="{FF2B5EF4-FFF2-40B4-BE49-F238E27FC236}">
                <a16:creationId xmlns:a16="http://schemas.microsoft.com/office/drawing/2014/main" id="{D394B249-8227-4BAB-BE0B-4D4E61B38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446681"/>
            <a:ext cx="3911632" cy="5487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Trace settlement</a:t>
            </a:r>
          </a:p>
        </p:txBody>
      </p:sp>
      <p:sp>
        <p:nvSpPr>
          <p:cNvPr id="14" name="Google-Shape-340-p61-15">
            <a:extLst xmlns:a="http://schemas.openxmlformats.org/drawingml/2006/main">
              <a:ext uri="{FF2B5EF4-FFF2-40B4-BE49-F238E27FC236}">
                <a16:creationId xmlns:a16="http://schemas.microsoft.com/office/drawing/2014/main" id="{69672FE3-F7BE-480C-B437-605FFA5EA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00" y="5471541"/>
            <a:ext cx="212598" cy="212503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</p:spTree>
    <p:extLst>
      <p:ext uri="{BB962C8B-B14F-4D97-AF65-F5344CB8AC3E}">
        <p14:creationId xmlns:p14="http://schemas.microsoft.com/office/powerpoint/2010/main" val="2146295557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9B9B3931-1DEE-4065-933A-5A53FE0E7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03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FDCE5663-C749-4F15-A575-4AE333369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One closed loop turns information into bounded action.</a:t>
            </a:r>
          </a:p>
        </p:txBody>
      </p:sp>
      <p:cxnSp>
        <p:nvCxnSpPr>
          <p:cNvPr id="15" name="Google-Shape-2259-p159-4"/>
          <p:cNvCxnSpPr/>
          <p:nvPr/>
        </p:nvCxnSpPr>
        <p:spPr>
          <a:xfrm xmlns:a="http://schemas.openxmlformats.org/drawingml/2006/main">
            <a:off x="337757" y="3373755"/>
            <a:ext cx="12245435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4" name="Google-Shape-2260-p159-5">
            <a:extLst xmlns:a="http://schemas.openxmlformats.org/drawingml/2006/main">
              <a:ext uri="{FF2B5EF4-FFF2-40B4-BE49-F238E27FC236}">
                <a16:creationId xmlns:a16="http://schemas.microsoft.com/office/drawing/2014/main" id="{8F8BDBEF-4113-4A40-8455-087EDF976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57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5" name="Google-Shape-2261-p159-6">
            <a:extLst xmlns:a="http://schemas.openxmlformats.org/drawingml/2006/main">
              <a:ext uri="{FF2B5EF4-FFF2-40B4-BE49-F238E27FC236}">
                <a16:creationId xmlns:a16="http://schemas.microsoft.com/office/drawing/2014/main" id="{8437B2BF-D1A7-4A79-9FE8-A5E38ADC7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6" name="Google-Shape-2262-p159-7">
            <a:extLst xmlns:a="http://schemas.openxmlformats.org/drawingml/2006/main">
              <a:ext uri="{FF2B5EF4-FFF2-40B4-BE49-F238E27FC236}">
                <a16:creationId xmlns:a16="http://schemas.microsoft.com/office/drawing/2014/main" id="{DD9FF5DF-CE66-4399-894C-BF129B46C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7" name="Content-Placeholder-15-8">
            <a:extLst xmlns:a="http://schemas.openxmlformats.org/drawingml/2006/main">
              <a:ext uri="{FF2B5EF4-FFF2-40B4-BE49-F238E27FC236}">
                <a16:creationId xmlns:a16="http://schemas.microsoft.com/office/drawing/2014/main" id="{8FBA9670-7B63-41E8-8D56-D942E6919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01 · SELL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D9DB4FEE-AE2E-47C8-93F3-3A4EF3857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4156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02 · BUY</a:t>
            </a:r>
          </a:p>
        </p:txBody>
      </p:sp>
      <p:sp>
        <p:nvSpPr>
          <p:cNvPr id="9" name="Content-Placeholder-15-10">
            <a:extLst xmlns:a="http://schemas.openxmlformats.org/drawingml/2006/main">
              <a:ext uri="{FF2B5EF4-FFF2-40B4-BE49-F238E27FC236}">
                <a16:creationId xmlns:a16="http://schemas.microsoft.com/office/drawing/2014/main" id="{C52E04D8-2CF9-4023-BBE0-8B6157D24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321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03 · SETTLE</a:t>
            </a:r>
          </a:p>
        </p:txBody>
      </p:sp>
      <p:sp>
        <p:nvSpPr>
          <p:cNvPr id="10" name="Text-Placeholder-16-11">
            <a:extLst xmlns:a="http://schemas.openxmlformats.org/drawingml/2006/main">
              <a:ext uri="{FF2B5EF4-FFF2-40B4-BE49-F238E27FC236}">
                <a16:creationId xmlns:a16="http://schemas.microsoft.com/office/drawing/2014/main" id="{C207DA8E-5033-44BD-A7FF-3EA43FA88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7111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Explainable agent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Pay, evaluate the threshold rule, then authorize or hold.</a:t>
            </a:r>
          </a:p>
        </p:txBody>
      </p:sp>
      <p:sp>
        <p:nvSpPr>
          <p:cNvPr id="11" name="Text-Placeholder-16-12">
            <a:extLst xmlns:a="http://schemas.openxmlformats.org/drawingml/2006/main">
              <a:ext uri="{FF2B5EF4-FFF2-40B4-BE49-F238E27FC236}">
                <a16:creationId xmlns:a16="http://schemas.microsoft.com/office/drawing/2014/main" id="{7A6EEF78-6915-44CA-87CB-61EFBE543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5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x402 signal API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Recent ETH/BTC movement becomes a $0.001 USDC signal.</a:t>
            </a:r>
          </a:p>
        </p:txBody>
      </p:sp>
      <p:sp>
        <p:nvSpPr>
          <p:cNvPr id="12" name="Text-Placeholder-16-13">
            <a:extLst xmlns:a="http://schemas.openxmlformats.org/drawingml/2006/main">
              <a:ext uri="{FF2B5EF4-FFF2-40B4-BE49-F238E27FC236}">
                <a16:creationId xmlns:a16="http://schemas.microsoft.com/office/drawing/2014/main" id="{A392F88E-9416-43AC-A4B6-E6E6074DA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787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Circle execution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App Kit moves capped USDC between active and reserve wallets.</a:t>
            </a:r>
          </a:p>
        </p:txBody>
      </p:sp>
    </p:spTree>
    <p:extLst>
      <p:ext uri="{BB962C8B-B14F-4D97-AF65-F5344CB8AC3E}">
        <p14:creationId xmlns:p14="http://schemas.microsoft.com/office/powerpoint/2010/main" val="733792251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Number-Placeholder-1-2">
            <a:extLst xmlns:a="http://schemas.openxmlformats.org/drawingml/2006/main">
              <a:ext uri="{FF2B5EF4-FFF2-40B4-BE49-F238E27FC236}">
                <a16:creationId xmlns:a16="http://schemas.microsoft.com/office/drawing/2014/main" id="{5981C0B4-2FD5-4164-A911-1315851CB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219" y="6278594"/>
            <a:ext cx="519113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04</a:t>
            </a:r>
          </a:p>
        </p:txBody>
      </p:sp>
      <p:sp>
        <p:nvSpPr>
          <p:cNvPr id="2" name="Title-2-3">
            <a:extLst xmlns:a="http://schemas.openxmlformats.org/drawingml/2006/main">
              <a:ext uri="{FF2B5EF4-FFF2-40B4-BE49-F238E27FC236}">
                <a16:creationId xmlns:a16="http://schemas.microsoft.com/office/drawing/2014/main" id="{90E95254-39A0-4AF0-B832-6C161DBEE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The discipline layer - not the model - controls custody.</a:t>
            </a:r>
          </a:p>
        </p:txBody>
      </p:sp>
      <p:sp>
        <p:nvSpPr>
          <p:cNvPr id="3" name="Content-Placeholder-9-4">
            <a:extLst xmlns:a="http://schemas.openxmlformats.org/drawingml/2006/main">
              <a:ext uri="{FF2B5EF4-FFF2-40B4-BE49-F238E27FC236}">
                <a16:creationId xmlns:a16="http://schemas.microsoft.com/office/drawing/2014/main" id="{F5871DB1-4726-4F66-ABEC-DF949DCA6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31968"/>
            <a:ext cx="5537168" cy="16430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Spending caps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Separate daily limits for signal purchases and treasury moves.</a:t>
            </a:r>
          </a:p>
        </p:txBody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07BA0433-A210-4ACA-8590-6B23945E4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2031968"/>
            <a:ext cx="5537168" cy="16430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Replay safety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Deterministic idempotency keys stop duplicate execution.</a:t>
            </a:r>
          </a:p>
        </p:txBody>
      </p:sp>
      <p:sp>
        <p:nvSpPr>
          <p:cNvPr id="5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989303D3-474C-4DE8-921F-E4475BF94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016978"/>
            <a:ext cx="5537168" cy="16431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Position safety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 reconciled balance and minimum reserve are mandatory.</a:t>
            </a:r>
          </a:p>
        </p:txBody>
      </p:sp>
      <p:sp>
        <p:nvSpPr>
          <p:cNvPr id="6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CEB2C18F-4651-4189-A405-4ED8E6D10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4016978"/>
            <a:ext cx="5537168" cy="16431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Breaker + audit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Three failures halt the agent; every step remains traceable.</a:t>
            </a:r>
          </a:p>
        </p:txBody>
      </p:sp>
    </p:spTree>
    <p:extLst>
      <p:ext uri="{BB962C8B-B14F-4D97-AF65-F5344CB8AC3E}">
        <p14:creationId xmlns:p14="http://schemas.microsoft.com/office/powerpoint/2010/main" val="724600574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Rounded-Rectangle-5-1">
            <a:extLst xmlns:a="http://schemas.openxmlformats.org/drawingml/2006/main">
              <a:ext uri="{FF2B5EF4-FFF2-40B4-BE49-F238E27FC236}">
                <a16:creationId xmlns:a16="http://schemas.microsoft.com/office/drawing/2014/main" id="{A809C3E0-FD96-458E-AE63-0AFD3B739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2" name="Rounded-Rectangle-6-2">
            <a:extLst xmlns:a="http://schemas.openxmlformats.org/drawingml/2006/main">
              <a:ext uri="{FF2B5EF4-FFF2-40B4-BE49-F238E27FC236}">
                <a16:creationId xmlns:a16="http://schemas.microsoft.com/office/drawing/2014/main" id="{B41E8481-3CDB-42A2-919B-F07EEA0CC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3" name="Rounded-Rectangle-7-3">
            <a:extLst xmlns:a="http://schemas.openxmlformats.org/drawingml/2006/main">
              <a:ext uri="{FF2B5EF4-FFF2-40B4-BE49-F238E27FC236}">
                <a16:creationId xmlns:a16="http://schemas.microsoft.com/office/drawing/2014/main" id="{61664E0A-043B-4D1E-AF5E-F21CA408C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67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Slide-Number-Placeholder-1-4">
            <a:extLst xmlns:a="http://schemas.openxmlformats.org/drawingml/2006/main">
              <a:ext uri="{FF2B5EF4-FFF2-40B4-BE49-F238E27FC236}">
                <a16:creationId xmlns:a16="http://schemas.microsoft.com/office/drawing/2014/main" id="{5ADCEA1B-39D5-4BE6-8F3F-4908854DD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05</a:t>
            </a:r>
          </a:p>
        </p:txBody>
      </p:sp>
      <p:sp>
        <p:nvSpPr>
          <p:cNvPr id="5" name="Title-2-5">
            <a:extLst xmlns:a="http://schemas.openxmlformats.org/drawingml/2006/main">
              <a:ext uri="{FF2B5EF4-FFF2-40B4-BE49-F238E27FC236}">
                <a16:creationId xmlns:a16="http://schemas.microsoft.com/office/drawing/2014/main" id="{79CEC547-EBF4-4A43-9F63-E466AAA1C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The MVP is implemented, tested, and funded on testnet.</a:t>
            </a:r>
          </a:p>
        </p:txBody>
      </p:sp>
      <p:sp>
        <p:nvSpPr>
          <p:cNvPr id="6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0CAE42D1-5E63-4C91-95B1-62536CF8E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per x402 signal</a:t>
            </a:r>
          </a:p>
        </p:txBody>
      </p:sp>
      <p:sp>
        <p:nvSpPr>
          <p:cNvPr id="7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E0B6963C-090D-46D9-BAF0-62F9970DA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1830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99479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automated tests pass</a:t>
            </a:r>
          </a:p>
        </p:txBody>
      </p:sp>
      <p:sp>
        <p:nvSpPr>
          <p:cNvPr id="8" name="Content-Placeholder-11-8">
            <a:extLst xmlns:a="http://schemas.openxmlformats.org/drawingml/2006/main">
              <a:ext uri="{FF2B5EF4-FFF2-40B4-BE49-F238E27FC236}">
                <a16:creationId xmlns:a16="http://schemas.microsoft.com/office/drawing/2014/main" id="{BE8DC223-20F8-4DB2-A627-D8E900F2F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124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treasury transfer</a:t>
            </a:r>
          </a:p>
        </p:txBody>
      </p:sp>
      <p:sp>
        <p:nvSpPr>
          <p:cNvPr id="9" name="Content-Placeholder-9-9">
            <a:extLst xmlns:a="http://schemas.openxmlformats.org/drawingml/2006/main">
              <a:ext uri="{FF2B5EF4-FFF2-40B4-BE49-F238E27FC236}">
                <a16:creationId xmlns:a16="http://schemas.microsoft.com/office/drawing/2014/main" id="{5A316FF4-0FB4-4F63-A06C-9D04C5606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$0.001</a:t>
            </a:r>
          </a:p>
        </p:txBody>
      </p:sp>
      <p:sp>
        <p:nvSpPr>
          <p:cNvPr id="10" name="Content-Placeholder-9-10">
            <a:extLst xmlns:a="http://schemas.openxmlformats.org/drawingml/2006/main">
              <a:ext uri="{FF2B5EF4-FFF2-40B4-BE49-F238E27FC236}">
                <a16:creationId xmlns:a16="http://schemas.microsoft.com/office/drawing/2014/main" id="{1F608670-D42D-48CD-A5FE-846E66623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2958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1 USDC</a:t>
            </a:r>
          </a:p>
        </p:txBody>
      </p:sp>
      <p:sp>
        <p:nvSpPr>
          <p:cNvPr id="11" name="Content-Placeholder-9-11">
            <a:extLst xmlns:a="http://schemas.openxmlformats.org/drawingml/2006/main">
              <a:ext uri="{FF2B5EF4-FFF2-40B4-BE49-F238E27FC236}">
                <a16:creationId xmlns:a16="http://schemas.microsoft.com/office/drawing/2014/main" id="{66D11612-1AB2-44EE-AF66-10C8E02D6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40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5 / 5</a:t>
            </a:r>
          </a:p>
        </p:txBody>
      </p:sp>
      <p:sp>
        <p:nvSpPr>
          <p:cNvPr id="12" name="Content-Placeholder-15-12">
            <a:extLst xmlns:a="http://schemas.openxmlformats.org/drawingml/2006/main">
              <a:ext uri="{FF2B5EF4-FFF2-40B4-BE49-F238E27FC236}">
                <a16:creationId xmlns:a16="http://schemas.microsoft.com/office/drawing/2014/main" id="{3E354EA5-38FE-4A68-8101-8522DA427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138333"/>
            <a:ext cx="11404568" cy="15994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WORKING PROOF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 real paid signal triggered a real guarded treasury rebalance on Arc Testnet.</a:t>
            </a:r>
          </a:p>
        </p:txBody>
      </p:sp>
    </p:spTree>
    <p:extLst>
      <p:ext uri="{BB962C8B-B14F-4D97-AF65-F5344CB8AC3E}">
        <p14:creationId xmlns:p14="http://schemas.microsoft.com/office/powerpoint/2010/main" val="1239153042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119A9FD7-8EA9-4B13-ADCA-95F664FA7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06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BE0C346C-7319-4518-A939-BC8D01D79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Real execution, not a mock.</a:t>
            </a:r>
          </a:p>
        </p:txBody>
      </p:sp>
      <p:sp>
        <p:nvSpPr>
          <p:cNvPr id="3" name="Picture-3-4-backing">
            <a:extLst xmlns:a="http://schemas.openxmlformats.org/drawingml/2006/main">
              <a:ext uri="{FF2B5EF4-FFF2-40B4-BE49-F238E27FC236}">
                <a16:creationId xmlns:a16="http://schemas.microsoft.com/office/drawing/2014/main" id="{87C32076-E91A-4D9E-A476-683CE948E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9069" y="396431"/>
            <a:ext cx="5539740" cy="5602034"/>
          </a:xfrm>
          <a:prstGeom xmlns:a="http://schemas.openxmlformats.org/drawingml/2006/main" prst="roundRect">
            <a:avLst>
              <a:gd name="adj" fmla="val 1376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Google-Shape-534-p58-5">
            <a:extLst xmlns:a="http://schemas.openxmlformats.org/drawingml/2006/main">
              <a:ext uri="{FF2B5EF4-FFF2-40B4-BE49-F238E27FC236}">
                <a16:creationId xmlns:a16="http://schemas.microsoft.com/office/drawing/2014/main" id="{4D677260-68A0-4807-8662-F54D430E6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31968"/>
            <a:ext cx="5537168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</a:p>
        </p:txBody>
      </p:sp>
      <p:sp>
        <p:nvSpPr>
          <p:cNvPr id="6" name="proof-copy">
            <a:extLst xmlns:a="http://schemas.openxmlformats.org/drawingml/2006/main">
              <a:ext uri="{FF2B5EF4-FFF2-40B4-BE49-F238E27FC236}">
                <a16:creationId xmlns:a16="http://schemas.microsoft.com/office/drawing/2014/main" id="{ED86BAC8-D91C-4A9D-B70A-3E6E7FADE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962150"/>
            <a:ext cx="53340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 -180 bps signal at 0.94 confidence passed every guard.</a:t>
            </a:r>
          </a:p>
        </p:txBody>
      </p:sp>
      <p:sp>
        <p:nvSpPr>
          <p:cNvPr id="7" name="proof-detail">
            <a:extLst xmlns:a="http://schemas.openxmlformats.org/drawingml/2006/main">
              <a:ext uri="{FF2B5EF4-FFF2-40B4-BE49-F238E27FC236}">
                <a16:creationId xmlns:a16="http://schemas.microsoft.com/office/drawing/2014/main" id="{CC0E03FB-1A62-4716-A991-812B19576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600450"/>
            <a:ext cx="5143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353A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>
                <a:solidFill>
                  <a:srgbClr val="353A38"/>
                </a:solidFill>
                <a:latin typeface="Helvetica Neue"/>
                <a:ea typeface="Helvetica Neue"/>
                <a:cs typeface="Helvetica Neue"/>
              </a:rPr>
              <a:t>x402 payment succeeded. Circle App Kit then moved 1 USDC from the active wallet to reserve. The transaction is public on ArcScan.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10f6bbbe3d4f64"/>
          <a:stretch xmlns:a="http://schemas.openxmlformats.org/drawingml/2006/main"/>
        </p:blipFill>
        <p:spPr>
          <a:xfrm xmlns:a="http://schemas.openxmlformats.org/drawingml/2006/main">
            <a:off x="6267450" y="1679377"/>
            <a:ext cx="5543550" cy="3118247"/>
          </a:xfrm>
          <a:prstGeom xmlns:a="http://schemas.openxmlformats.org/drawingml/2006/main" prst="roundRect">
            <a:avLst>
              <a:gd name="adj" fmla="val 3810"/>
            </a:avLst>
          </a:prstGeom>
        </p:spPr>
      </p:pic>
    </p:spTree>
    <p:extLst>
      <p:ext uri="{BB962C8B-B14F-4D97-AF65-F5344CB8AC3E}">
        <p14:creationId xmlns:p14="http://schemas.microsoft.com/office/powerpoint/2010/main" val="1956413228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D0B1D071-229C-4489-98A1-E9EAAB903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07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838F2209-7778-4BC6-9B9F-F0FEEB3CF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The full loop is public, testable, and ready.</a:t>
            </a:r>
          </a:p>
        </p:txBody>
      </p:sp>
      <p:graphicFrame>
        <p:nvGraphicFramePr>
          <p:cNvPr id="19" name="Google-Shape-953-p80-4"/>
          <p:cNvGraphicFramePr/>
          <p:nvPr/>
        </p:nvGraphicFramePr>
        <p:xfrm>
          <a:off xmlns:a="http://schemas.openxmlformats.org/drawingml/2006/main" x="393668" y="1379887"/>
          <a:ext xmlns:a="http://schemas.openxmlformats.org/drawingml/2006/main" cx="11404664" cy="4614482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80952"/>
                <a:gridCol w="2280952"/>
                <a:gridCol w="2280952"/>
                <a:gridCol w="2280952"/>
                <a:gridCol w="2280952"/>
              </a:tblGrid>
              <a:tr h="4614482">
                <a:tc>
                  <a:txBody>
                    <a:bodyPr/>
                    <a:lstStyle/>
                    <a:p>
                      <a:r>
                        <a:t>BUILD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WALLETS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PAY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ACT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PROVE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4" name="Google-Shape-955-p80-5">
            <a:extLst xmlns:a="http://schemas.openxmlformats.org/drawingml/2006/main">
              <a:ext uri="{FF2B5EF4-FFF2-40B4-BE49-F238E27FC236}">
                <a16:creationId xmlns:a16="http://schemas.microsoft.com/office/drawing/2014/main" id="{284F8F73-559E-484A-A70D-2B0AA148C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1733" y="4107752"/>
            <a:ext cx="4562666" cy="513302"/>
          </a:xfrm>
          <a:prstGeom xmlns:a="http://schemas.openxmlformats.org/drawingml/2006/main" prst="roundRect">
            <a:avLst>
              <a:gd name="adj" fmla="val 1484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5" name="Google-Shape-955-p80-5">
            <a:extLst xmlns:a="http://schemas.openxmlformats.org/drawingml/2006/main">
              <a:ext uri="{FF2B5EF4-FFF2-40B4-BE49-F238E27FC236}">
                <a16:creationId xmlns:a16="http://schemas.microsoft.com/office/drawing/2014/main" id="{EF55A755-D1E2-4880-A713-3A0ADC27D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1733" y="4107752"/>
            <a:ext cx="4562666" cy="51330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210312" tIns="121920" rIns="121920" bIns="12192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Arc treasury transfer</a:t>
            </a:r>
          </a:p>
        </p:txBody>
      </p:sp>
      <p:sp>
        <p:nvSpPr>
          <p:cNvPr id="6" name="Google-Shape-957-p80-6">
            <a:extLst xmlns:a="http://schemas.openxmlformats.org/drawingml/2006/main">
              <a:ext uri="{FF2B5EF4-FFF2-40B4-BE49-F238E27FC236}">
                <a16:creationId xmlns:a16="http://schemas.microsoft.com/office/drawing/2014/main" id="{426600F1-CD5C-4033-ADF3-0EBC72607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073" y="5478399"/>
            <a:ext cx="11026712" cy="513302"/>
          </a:xfrm>
          <a:prstGeom xmlns:a="http://schemas.openxmlformats.org/drawingml/2006/main" prst="roundRect">
            <a:avLst>
              <a:gd name="adj" fmla="val 1484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7" name="Google-Shape-957-p80-6">
            <a:extLst xmlns:a="http://schemas.openxmlformats.org/drawingml/2006/main">
              <a:ext uri="{FF2B5EF4-FFF2-40B4-BE49-F238E27FC236}">
                <a16:creationId xmlns:a16="http://schemas.microsoft.com/office/drawing/2014/main" id="{0F115225-F328-4824-8DD0-F93337B7B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073" y="5478399"/>
            <a:ext cx="11026712" cy="51330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210312" tIns="121920" rIns="121920" bIns="12192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Public demo + video + deck</a:t>
            </a:r>
          </a:p>
        </p:txBody>
      </p:sp>
      <p:sp>
        <p:nvSpPr>
          <p:cNvPr id="8" name="Google-Shape-960-p80-7">
            <a:extLst xmlns:a="http://schemas.openxmlformats.org/drawingml/2006/main">
              <a:ext uri="{FF2B5EF4-FFF2-40B4-BE49-F238E27FC236}">
                <a16:creationId xmlns:a16="http://schemas.microsoft.com/office/drawing/2014/main" id="{C260D794-60F7-42C6-AD9E-6E2E745F9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2750" y="4754975"/>
            <a:ext cx="4088035" cy="513302"/>
          </a:xfrm>
          <a:prstGeom xmlns:a="http://schemas.openxmlformats.org/drawingml/2006/main" prst="roundRect">
            <a:avLst>
              <a:gd name="adj" fmla="val 1484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9" name="Google-Shape-960-p80-7">
            <a:extLst xmlns:a="http://schemas.openxmlformats.org/drawingml/2006/main">
              <a:ext uri="{FF2B5EF4-FFF2-40B4-BE49-F238E27FC236}">
                <a16:creationId xmlns:a16="http://schemas.microsoft.com/office/drawing/2014/main" id="{209938E9-0192-4C6D-9FC8-FADEFAE94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2750" y="4754975"/>
            <a:ext cx="4088035" cy="51330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210312" tIns="121920" rIns="121920" bIns="12192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Verified proof replay</a:t>
            </a:r>
          </a:p>
        </p:txBody>
      </p:sp>
      <p:sp>
        <p:nvSpPr>
          <p:cNvPr id="10" name="Google-Shape-963-p80-8">
            <a:extLst xmlns:a="http://schemas.openxmlformats.org/drawingml/2006/main">
              <a:ext uri="{FF2B5EF4-FFF2-40B4-BE49-F238E27FC236}">
                <a16:creationId xmlns:a16="http://schemas.microsoft.com/office/drawing/2014/main" id="{88BD361F-A424-4FCC-BBDC-269FC96EF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972" y="3403187"/>
            <a:ext cx="8790813" cy="513302"/>
          </a:xfrm>
          <a:prstGeom xmlns:a="http://schemas.openxmlformats.org/drawingml/2006/main" prst="roundRect">
            <a:avLst>
              <a:gd name="adj" fmla="val 1484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11" name="Google-Shape-963-p80-8">
            <a:extLst xmlns:a="http://schemas.openxmlformats.org/drawingml/2006/main">
              <a:ext uri="{FF2B5EF4-FFF2-40B4-BE49-F238E27FC236}">
                <a16:creationId xmlns:a16="http://schemas.microsoft.com/office/drawing/2014/main" id="{38946D5F-0E41-41AD-A4A3-DE4DE5B33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972" y="3403187"/>
            <a:ext cx="8790813" cy="51330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210312" tIns="121920" rIns="121920" bIns="12192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x402 paid signal</a:t>
            </a:r>
          </a:p>
        </p:txBody>
      </p:sp>
      <p:sp>
        <p:nvSpPr>
          <p:cNvPr id="12" name="Google-Shape-966-p80-9">
            <a:extLst xmlns:a="http://schemas.openxmlformats.org/drawingml/2006/main">
              <a:ext uri="{FF2B5EF4-FFF2-40B4-BE49-F238E27FC236}">
                <a16:creationId xmlns:a16="http://schemas.microsoft.com/office/drawing/2014/main" id="{3633E426-1908-47E2-A67A-94B6D5F48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972" y="2698528"/>
            <a:ext cx="6408515" cy="513302"/>
          </a:xfrm>
          <a:prstGeom xmlns:a="http://schemas.openxmlformats.org/drawingml/2006/main" prst="roundRect">
            <a:avLst>
              <a:gd name="adj" fmla="val 1484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13" name="Google-Shape-966-p80-9">
            <a:extLst xmlns:a="http://schemas.openxmlformats.org/drawingml/2006/main">
              <a:ext uri="{FF2B5EF4-FFF2-40B4-BE49-F238E27FC236}">
                <a16:creationId xmlns:a16="http://schemas.microsoft.com/office/drawing/2014/main" id="{A6D50599-5153-4283-B623-00C56ACC3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972" y="2698528"/>
            <a:ext cx="6408515" cy="51330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210312" tIns="121920" rIns="121920" bIns="12192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Circle wallet setup</a:t>
            </a:r>
          </a:p>
        </p:txBody>
      </p:sp>
      <p:sp>
        <p:nvSpPr>
          <p:cNvPr id="14" name="Google-Shape-969-p80-10">
            <a:extLst xmlns:a="http://schemas.openxmlformats.org/drawingml/2006/main">
              <a:ext uri="{FF2B5EF4-FFF2-40B4-BE49-F238E27FC236}">
                <a16:creationId xmlns:a16="http://schemas.microsoft.com/office/drawing/2014/main" id="{CE8FFB28-7356-4D57-99FE-63F4C2291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873" y="1975104"/>
            <a:ext cx="4185190" cy="513302"/>
          </a:xfrm>
          <a:prstGeom xmlns:a="http://schemas.openxmlformats.org/drawingml/2006/main" prst="roundRect">
            <a:avLst>
              <a:gd name="adj" fmla="val 1484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15" name="Google-Shape-969-p80-10">
            <a:extLst xmlns:a="http://schemas.openxmlformats.org/drawingml/2006/main">
              <a:ext uri="{FF2B5EF4-FFF2-40B4-BE49-F238E27FC236}">
                <a16:creationId xmlns:a16="http://schemas.microsoft.com/office/drawing/2014/main" id="{30CBEA0F-8536-4BCC-9A98-752FCACA5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873" y="1975104"/>
            <a:ext cx="4185190" cy="51330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210312" tIns="121920" rIns="121920" bIns="12192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MVP + discipline</a:t>
            </a:r>
          </a:p>
        </p:txBody>
      </p:sp>
      <p:sp>
        <p:nvSpPr>
          <p:cNvPr id="16" name="live-url">
            <a:extLst xmlns:a="http://schemas.openxmlformats.org/drawingml/2006/main">
              <a:ext uri="{FF2B5EF4-FFF2-40B4-BE49-F238E27FC236}">
                <a16:creationId xmlns:a16="http://schemas.microsoft.com/office/drawing/2014/main" id="{31C47E3B-55E9-49D6-A3FD-D3AF3A2EC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219825"/>
            <a:ext cx="990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https://radar-agent-arc-2026.chrischang2026.workers.dev</a:t>
            </a:r>
          </a:p>
        </p:txBody>
      </p:sp>
    </p:spTree>
    <p:extLst>
      <p:ext uri="{BB962C8B-B14F-4D97-AF65-F5344CB8AC3E}">
        <p14:creationId xmlns:p14="http://schemas.microsoft.com/office/powerpoint/2010/main" val="616021555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-3-1">
            <a:extLst xmlns:a="http://schemas.openxmlformats.org/drawingml/2006/main">
              <a:ext uri="{FF2B5EF4-FFF2-40B4-BE49-F238E27FC236}">
                <a16:creationId xmlns:a16="http://schemas.microsoft.com/office/drawing/2014/main" id="{B90F0B07-8EB1-4C88-BA80-C28E5F32A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38789"/>
            <a:ext cx="9448800" cy="24914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6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Pay. Decide. Settle on Arc.</a:t>
            </a:r>
          </a:p>
        </p:txBody>
      </p:sp>
      <p:sp>
        <p:nvSpPr>
          <p:cNvPr id="2" name="Subtitle-4-2">
            <a:extLst xmlns:a="http://schemas.openxmlformats.org/drawingml/2006/main">
              <a:ext uri="{FF2B5EF4-FFF2-40B4-BE49-F238E27FC236}">
                <a16:creationId xmlns:a16="http://schemas.microsoft.com/office/drawing/2014/main" id="{C2DB6BFA-C835-4B98-AD03-0C8D140FA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5010150"/>
            <a:ext cx="10668000" cy="1123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Live · radar-agent-arc-2026.chrischang2026.workers.dev</a:t>
            </a:r>
          </a:p>
          <a:p xmlns:a="http://schemas.openxmlformats.org/drawingml/2006/main">
            <a:pPr algn="l"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Video · /demo</a:t>
            </a:r>
          </a:p>
          <a:p xmlns:a="http://schemas.openxmlformats.org/drawingml/2006/main">
            <a:pPr algn="l"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GitHub · CrisChang/radar-agent   |   ArcScan · 0xb552…7726</a:t>
            </a:r>
          </a:p>
        </p:txBody>
      </p:sp>
      <p:sp>
        <p:nvSpPr>
          <p:cNvPr id="3" name="Subtitle-4-3">
            <a:extLst xmlns:a="http://schemas.openxmlformats.org/drawingml/2006/main">
              <a:ext uri="{FF2B5EF4-FFF2-40B4-BE49-F238E27FC236}">
                <a16:creationId xmlns:a16="http://schemas.microsoft.com/office/drawing/2014/main" id="{2F240D60-8867-45F9-A6D6-81A280178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1612868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RADAR AGENT</a:t>
            </a:r>
          </a:p>
        </p:txBody>
      </p:sp>
    </p:spTree>
    <p:extLst>
      <p:ext uri="{BB962C8B-B14F-4D97-AF65-F5344CB8AC3E}">
        <p14:creationId xmlns:p14="http://schemas.microsoft.com/office/powerpoint/2010/main" val="110904349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2026-08-07T04:31:00.6720000Z</dcterms:created>
  <dcterms:modified xsi:type="dcterms:W3CDTF">2026-08-07T04:31:00.6720000Z</dcterms:modified>
</coreProperties>
</file>